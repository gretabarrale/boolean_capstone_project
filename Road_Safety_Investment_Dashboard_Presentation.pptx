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regular.fntdata"/><Relationship Id="rId10" Type="http://schemas.openxmlformats.org/officeDocument/2006/relationships/slide" Target="slides/slide5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62a28612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62a28612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62a28612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62a28612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62a28612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62a28612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2a28612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62a28612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Road Safety Investment &amp; Risk Analysis 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571352" y="315972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Italian Municipalities (2018-2024)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80425" y="1324125"/>
            <a:ext cx="7293000" cy="7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40">
                <a:latin typeface="Lato"/>
                <a:ea typeface="Lato"/>
                <a:cs typeface="Lato"/>
                <a:sym typeface="Lato"/>
              </a:rPr>
              <a:t>The goal:  finding out</a:t>
            </a:r>
            <a:r>
              <a:rPr lang="en-GB" sz="1895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895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which Italian municipalities have the highest accident risk and why to invest in them </a:t>
            </a:r>
            <a:endParaRPr sz="1895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2289900"/>
            <a:ext cx="7688700" cy="226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/>
              <a:t>Given the raw data (</a:t>
            </a:r>
            <a:r>
              <a:rPr b="1" lang="en-GB" sz="1400">
                <a:solidFill>
                  <a:schemeClr val="accent3"/>
                </a:solidFill>
                <a:highlight>
                  <a:schemeClr val="lt1"/>
                </a:highlight>
              </a:rPr>
              <a:t>fetching and cleaning </a:t>
            </a:r>
            <a:r>
              <a:rPr b="1" lang="en-GB" sz="1400"/>
              <a:t>data process):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n-GB" sz="1400"/>
              <a:t>Automated fetching from the ISTAT API (retry logic, rate-limit handling) + SITUAS population/surface data 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Data quality issues discovered and resolved: </a:t>
            </a:r>
            <a:r>
              <a:rPr b="1" lang="en-GB" sz="1400"/>
              <a:t>misread codes (leading zeros, "NA"/"None" parsed as missing), inconsistent number formats, undocumented column meanings — verified via ISTAT's official codelist and analysis of the data itself</a:t>
            </a:r>
            <a:endParaRPr b="1" sz="14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-GB" sz="1400">
                <a:solidFill>
                  <a:schemeClr val="accent3"/>
                </a:solidFill>
                <a:highlight>
                  <a:schemeClr val="lt1"/>
                </a:highlight>
              </a:rPr>
              <a:t>Result</a:t>
            </a:r>
            <a:r>
              <a:rPr b="1" lang="en-GB" sz="1400">
                <a:solidFill>
                  <a:schemeClr val="accent3"/>
                </a:solidFill>
              </a:rPr>
              <a:t>:</a:t>
            </a:r>
            <a:r>
              <a:rPr b="1" lang="en-GB" sz="1400"/>
              <a:t> a clean, joined dataset (2018–2024) with 53,817  entries and no NaN values</a:t>
            </a:r>
            <a:r>
              <a:rPr b="1" lang="en-GB" sz="1200">
                <a:solidFill>
                  <a:srgbClr val="000000"/>
                </a:solidFill>
              </a:rPr>
              <a:t> </a:t>
            </a:r>
            <a:endParaRPr b="1" sz="1400"/>
          </a:p>
        </p:txBody>
      </p:sp>
      <p:sp>
        <p:nvSpPr>
          <p:cNvPr id="94" name="Google Shape;94;p14"/>
          <p:cNvSpPr txBox="1"/>
          <p:nvPr/>
        </p:nvSpPr>
        <p:spPr>
          <a:xfrm>
            <a:off x="2020475" y="3447475"/>
            <a:ext cx="264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659000" y="1283425"/>
            <a:ext cx="79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>
                <a:latin typeface="Lato"/>
                <a:ea typeface="Lato"/>
                <a:cs typeface="Lato"/>
                <a:sym typeface="Lato"/>
              </a:rPr>
              <a:t>Exploratory data analysis</a:t>
            </a:r>
            <a:r>
              <a:rPr lang="en-GB" sz="2050">
                <a:latin typeface="Lato"/>
                <a:ea typeface="Lato"/>
                <a:cs typeface="Lato"/>
                <a:sym typeface="Lato"/>
              </a:rPr>
              <a:t> and statistical/ML analysis</a:t>
            </a:r>
            <a:endParaRPr b="0" sz="2050">
              <a:solidFill>
                <a:srgbClr val="D4D4D4"/>
              </a:solidFill>
              <a:highlight>
                <a:srgbClr val="1E1E1E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7650" y="1818625"/>
            <a:ext cx="8111100" cy="31719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Strong skew </a:t>
            </a:r>
            <a:r>
              <a:rPr b="1" lang="en-GB" sz="1400"/>
              <a:t>in accident data — a few large cities dominate counts, while smaller municipalities show disproportionately high risk relative to their size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/>
              <a:t>Outliers handled with </a:t>
            </a:r>
            <a:r>
              <a:rPr b="1" lang="en-GB" sz="1400">
                <a:solidFill>
                  <a:schemeClr val="accent3"/>
                </a:solidFill>
              </a:rPr>
              <a:t>IQR-based capping</a:t>
            </a:r>
            <a:endParaRPr b="1" sz="1400">
              <a:solidFill>
                <a:schemeClr val="accent3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/>
              <a:t>Derived two metrics — </a:t>
            </a:r>
            <a:r>
              <a:rPr b="1" lang="en-GB" sz="1400">
                <a:solidFill>
                  <a:schemeClr val="accent3"/>
                </a:solidFill>
              </a:rPr>
              <a:t>accidents per capita and per km² </a:t>
            </a:r>
            <a:r>
              <a:rPr b="1" lang="en-GB" sz="1400"/>
              <a:t>— shifting the focus from absolute numbers to relative risk</a:t>
            </a:r>
            <a:endParaRPr b="1"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b="1" lang="en-GB" sz="1400">
                <a:solidFill>
                  <a:schemeClr val="accent3"/>
                </a:solidFill>
              </a:rPr>
              <a:t>Three risk profiles </a:t>
            </a:r>
            <a:r>
              <a:rPr b="1" lang="en-GB" sz="1400"/>
              <a:t>(k-means clustering, k=3):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Low Risk </a:t>
            </a:r>
            <a:r>
              <a:rPr b="1" lang="en-GB" sz="1400"/>
              <a:t>(52.4%) — mostly South/Islands, low on both metrics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High Per-Capita Risk</a:t>
            </a:r>
            <a:r>
              <a:rPr b="1" lang="en-GB" sz="1400"/>
              <a:t> (28%) — mostly Center-North, risk spread across a wide area</a:t>
            </a:r>
            <a:endParaRPr b="1"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High Density Risk</a:t>
            </a:r>
            <a:r>
              <a:rPr b="1" lang="en-GB" sz="1400"/>
              <a:t> (19.6%) — major cities and metro areas, where risk is concentrated per square kilometer rather than spread over a large area</a:t>
            </a:r>
            <a:endParaRPr b="1"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chemeClr val="accent3"/>
                </a:solidFill>
              </a:rPr>
              <a:t>Linear regression</a:t>
            </a:r>
            <a:r>
              <a:rPr b="1" lang="en-GB" sz="1400"/>
              <a:t> confirmed that population size strongly predicts total accidents (the model explains 80% of the variation between municipalities) </a:t>
            </a:r>
            <a:endParaRPr b="1" sz="1400"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659000" y="1283425"/>
            <a:ext cx="79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>
                <a:latin typeface="Lato"/>
                <a:ea typeface="Lato"/>
                <a:cs typeface="Lato"/>
                <a:sym typeface="Lato"/>
              </a:rPr>
              <a:t>Where the risk really is?</a:t>
            </a:r>
            <a:endParaRPr b="0" sz="2050">
              <a:solidFill>
                <a:srgbClr val="D4D4D4"/>
              </a:solidFill>
              <a:highlight>
                <a:srgbClr val="1E1E1E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3841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Top 5 municipalities by total accidents: </a:t>
            </a:r>
            <a:r>
              <a:rPr b="1" lang="en-GB" sz="1400"/>
              <a:t>Roma, Milano, Genova, Torino, Napoli —  this </a:t>
            </a:r>
            <a:r>
              <a:rPr b="1" lang="en-GB" sz="1400">
                <a:solidFill>
                  <a:schemeClr val="dk2"/>
                </a:solidFill>
              </a:rPr>
              <a:t>reflects city </a:t>
            </a:r>
            <a:r>
              <a:rPr b="1" lang="en-GB" sz="1400"/>
              <a:t>size (absolute numbers) 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/>
              <a:t>According to the risk profiles: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Center-North provinces</a:t>
            </a:r>
            <a:r>
              <a:rPr b="1" lang="en-GB" sz="1400"/>
              <a:t> (Ferrara, Reggio nell'Emilia, Firenze — with Brindisi as an exception) →  high risk per resident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Metro areas</a:t>
            </a:r>
            <a:r>
              <a:rPr b="1" lang="en-GB" sz="1400"/>
              <a:t> (Monza e della Brianza, Milano, Napoli) have high risk per km²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-GB" sz="1400">
                <a:solidFill>
                  <a:schemeClr val="accent3"/>
                </a:solidFill>
              </a:rPr>
              <a:t>Napoli </a:t>
            </a:r>
            <a:r>
              <a:rPr b="1" lang="en-GB" sz="1400"/>
              <a:t>stands out:  fewer accidents than Roma or Milano, but the highest fatality rate among major cities </a:t>
            </a:r>
            <a:endParaRPr b="1" i="1"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3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659000" y="1283425"/>
            <a:ext cx="79275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>
                <a:latin typeface="Lato"/>
                <a:ea typeface="Lato"/>
                <a:cs typeface="Lato"/>
                <a:sym typeface="Lato"/>
              </a:rPr>
              <a:t>Conclusions &amp; used tools</a:t>
            </a:r>
            <a:endParaRPr b="0" sz="2050">
              <a:solidFill>
                <a:srgbClr val="D4D4D4"/>
              </a:solidFill>
              <a:highlight>
                <a:srgbClr val="1E1E1E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674200"/>
          </a:xfrm>
          <a:prstGeom prst="rect">
            <a:avLst/>
          </a:prstGeom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90"/>
              <a:t>Investing according to the type of risk (</a:t>
            </a:r>
            <a:r>
              <a:rPr b="1" lang="en-GB" sz="1690"/>
              <a:t> the distinction should guide whether resources go broad or targeted</a:t>
            </a:r>
            <a:r>
              <a:rPr b="1" lang="en-GB" sz="1690"/>
              <a:t>): </a:t>
            </a:r>
            <a:endParaRPr b="1" sz="1690"/>
          </a:p>
          <a:p>
            <a:pPr indent="-31174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-GB" sz="1690">
                <a:solidFill>
                  <a:schemeClr val="accent3"/>
                </a:solidFill>
                <a:highlight>
                  <a:schemeClr val="lt1"/>
                </a:highlight>
              </a:rPr>
              <a:t>High Per-Capita Risk municipalities</a:t>
            </a:r>
            <a:r>
              <a:rPr b="1" lang="en-GB" sz="1690"/>
              <a:t> (Center-North) → risk is spread across many small municipalities rather than concentrated in one place. </a:t>
            </a:r>
            <a:endParaRPr b="1" sz="1690"/>
          </a:p>
          <a:p>
            <a:pPr indent="-3117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-GB" sz="1690">
                <a:solidFill>
                  <a:schemeClr val="accent3"/>
                </a:solidFill>
              </a:rPr>
              <a:t>High Density Risk metro areas</a:t>
            </a:r>
            <a:r>
              <a:rPr b="1" lang="en-GB" sz="1690"/>
              <a:t> (Milano, Monza e della Bria</a:t>
            </a:r>
            <a:r>
              <a:rPr b="1" lang="en-GB" sz="1572"/>
              <a:t>n</a:t>
            </a:r>
            <a:r>
              <a:rPr b="1" lang="en-GB" sz="1690"/>
              <a:t>za, Napoli) → risk is concentrated in a small and dense territory </a:t>
            </a:r>
            <a:endParaRPr b="1" sz="169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690">
                <a:solidFill>
                  <a:schemeClr val="accent3"/>
                </a:solidFill>
              </a:rPr>
              <a:t> Used tools:</a:t>
            </a:r>
            <a:endParaRPr b="1" sz="1690">
              <a:solidFill>
                <a:schemeClr val="accent3"/>
              </a:solidFill>
            </a:endParaRPr>
          </a:p>
          <a:p>
            <a:pPr indent="-31174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-GB" sz="1690"/>
              <a:t>Python (pandas, scikit-learn, statsmodels, numpy), Power BI (Power Query, DAX) , Git/GitHub </a:t>
            </a:r>
            <a:endParaRPr b="1" sz="1690"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